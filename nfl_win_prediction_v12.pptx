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1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84" r:id="rId22"/>
    <p:sldId id="277" r:id="rId23"/>
    <p:sldId id="278" r:id="rId24"/>
    <p:sldId id="279" r:id="rId25"/>
    <p:sldId id="280" r:id="rId26"/>
    <p:sldId id="281" r:id="rId27"/>
    <p:sldId id="283" r:id="rId28"/>
    <p:sldId id="282" r:id="rId2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17" d="100"/>
          <a:sy n="117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</c:v>
                </c:pt>
              </c:strCache>
            </c:strRef>
          </c:tx>
          <c:spPr>
            <a:solidFill>
              <a:srgbClr val="0B1829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Yards per Carry</c:v>
                </c:pt>
                <c:pt idx="1">
                  <c:v>Pressure Rate Diff</c:v>
                </c:pt>
                <c:pt idx="2">
                  <c:v>Points Scored</c:v>
                </c:pt>
                <c:pt idx="3">
                  <c:v>3rd Down Conv. Rate</c:v>
                </c:pt>
                <c:pt idx="4">
                  <c:v>Net YPA Differential</c:v>
                </c:pt>
                <c:pt idx="5">
                  <c:v>Turnover Margin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0.04</c:v>
                </c:pt>
                <c:pt idx="1">
                  <c:v>0.26</c:v>
                </c:pt>
                <c:pt idx="2">
                  <c:v>0.31</c:v>
                </c:pt>
                <c:pt idx="3">
                  <c:v>0.35</c:v>
                </c:pt>
                <c:pt idx="4">
                  <c:v>0.41</c:v>
                </c:pt>
                <c:pt idx="5">
                  <c:v>0.48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97-49ED-B89D-42E76F0CA5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6"/>
          <c:min val="0"/>
        </c:scaling>
        <c:delete val="0"/>
        <c:axPos val="b"/>
        <c:majorGridlines>
          <c:spPr>
            <a:ln w="6350" cap="flat">
              <a:solidFill>
                <a:srgbClr val="D8E2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r>
                  <a:rPr lang="en-US" sz="1100" b="0" i="0" u="none" strike="noStrike">
                    <a:solidFill>
                      <a:srgbClr val="1E293B"/>
                    </a:solidFill>
                    <a:latin typeface="Arial"/>
                  </a:rPr>
                  <a:t>Win Probability Correlation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6F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8083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B92D2-5651-4823-002A-2781DD9EE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865F78-DE1E-5940-D9C4-D5FC496B24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CC7ACA-6851-BB13-5B41-38426EFB43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143996-E15C-64E6-9851-5B1165DAF6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0550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48E58-BDBC-73E0-EF79-EF4604A4D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DF950C-3FA4-15FE-B0B6-12B1EB6A15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0449AC-C31A-E0A6-DA73-C42A52D2BD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1605BF-AB37-44D8-6FEC-AB3FDF38A8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63929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projectionapppy-umylt56cxndy9qpanf6yom.streamlit.app/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8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521A"/>
          </a:solidFill>
          <a:ln w="12700">
            <a:solidFill>
              <a:srgbClr val="C85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</a:rPr>
              <a:t>Predicting NFL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C8521A"/>
                </a:solidFill>
              </a:rPr>
              <a:t>Team Records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C8DC"/>
                </a:solidFill>
              </a:rPr>
              <a:t>A data-driven approach to game-by-game win projection using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8C8DC"/>
                </a:solidFill>
              </a:rPr>
              <a:t>Pro Football Reference and custom ELO ratings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3749040"/>
            <a:ext cx="8229600" cy="0"/>
          </a:xfrm>
          <a:prstGeom prst="line">
            <a:avLst/>
          </a:prstGeom>
          <a:noFill/>
          <a:ln w="9525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</a:rPr>
              <a:t>Chicago Bears Analytics Interview  |  2025 NFL Season  | Asa Arnold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46720" y="4251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8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8899AA"/>
                </a:solidFill>
              </a:rPr>
              <a:t>Table of Contents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What to Expect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1325880"/>
            <a:ext cx="1572768" cy="3291840"/>
          </a:xfrm>
          <a:prstGeom prst="rect">
            <a:avLst/>
          </a:prstGeom>
          <a:solidFill>
            <a:srgbClr val="C8521A"/>
          </a:solidFill>
          <a:ln w="6350">
            <a:solidFill>
              <a:srgbClr val="C85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1490472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01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02920" y="2221992"/>
            <a:ext cx="1207008" cy="0"/>
          </a:xfrm>
          <a:prstGeom prst="line">
            <a:avLst/>
          </a:prstGeom>
          <a:noFill/>
          <a:ln w="6350">
            <a:solidFill>
              <a:srgbClr val="D97A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2331720"/>
            <a:ext cx="138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The Problem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3154680"/>
            <a:ext cx="13898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DCCC"/>
                </a:solidFill>
              </a:rPr>
              <a:t>Why predict records? What's the bar?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984248" y="1325880"/>
            <a:ext cx="1572768" cy="3291840"/>
          </a:xfrm>
          <a:prstGeom prst="rect">
            <a:avLst/>
          </a:prstGeom>
          <a:solidFill>
            <a:srgbClr val="1A2E45"/>
          </a:solidFill>
          <a:ln w="635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984248" y="1490472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8521A"/>
                </a:solidFill>
              </a:rPr>
              <a:t>02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2167128" y="2221992"/>
            <a:ext cx="1207008" cy="0"/>
          </a:xfrm>
          <a:prstGeom prst="line">
            <a:avLst/>
          </a:prstGeom>
          <a:noFill/>
          <a:ln w="635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075688" y="2331720"/>
            <a:ext cx="138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 &amp; Features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75688" y="3154680"/>
            <a:ext cx="13898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8DC"/>
                </a:solidFill>
              </a:rPr>
              <a:t>nfl_data_py, feature engineering, ELO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48456" y="1325880"/>
            <a:ext cx="1572768" cy="3291840"/>
          </a:xfrm>
          <a:prstGeom prst="rect">
            <a:avLst/>
          </a:prstGeom>
          <a:solidFill>
            <a:srgbClr val="1A2E45"/>
          </a:solidFill>
          <a:ln w="635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48456" y="1490472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8521A"/>
                </a:solidFill>
              </a:rPr>
              <a:t>03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3831336" y="2221992"/>
            <a:ext cx="1207008" cy="0"/>
          </a:xfrm>
          <a:prstGeom prst="line">
            <a:avLst/>
          </a:prstGeom>
          <a:noFill/>
          <a:ln w="635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739896" y="2331720"/>
            <a:ext cx="138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Non-Vegas Model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39896" y="3154680"/>
            <a:ext cx="13898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8DC"/>
                </a:solidFill>
              </a:rPr>
              <a:t>5-model suite, Neural Net matches Vegas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312664" y="1325880"/>
            <a:ext cx="1572768" cy="3291840"/>
          </a:xfrm>
          <a:prstGeom prst="rect">
            <a:avLst/>
          </a:prstGeom>
          <a:solidFill>
            <a:srgbClr val="1A2E45"/>
          </a:solidFill>
          <a:ln w="635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312664" y="1490472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8521A"/>
                </a:solidFill>
              </a:rPr>
              <a:t>04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5495544" y="2221992"/>
            <a:ext cx="1207008" cy="0"/>
          </a:xfrm>
          <a:prstGeom prst="line">
            <a:avLst/>
          </a:prstGeom>
          <a:noFill/>
          <a:ln w="635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04104" y="2331720"/>
            <a:ext cx="138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Vegas-Augmented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04104" y="3154680"/>
            <a:ext cx="13898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8DC"/>
                </a:solidFill>
              </a:rPr>
              <a:t>Adding market signal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976872" y="1325880"/>
            <a:ext cx="1572768" cy="3291840"/>
          </a:xfrm>
          <a:prstGeom prst="rect">
            <a:avLst/>
          </a:prstGeom>
          <a:solidFill>
            <a:srgbClr val="1A2E45"/>
          </a:solidFill>
          <a:ln w="635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976872" y="1490472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8521A"/>
                </a:solidFill>
              </a:rPr>
              <a:t>05</a:t>
            </a:r>
            <a:endParaRPr lang="en-US" sz="3600" dirty="0"/>
          </a:p>
        </p:txBody>
      </p:sp>
      <p:sp>
        <p:nvSpPr>
          <p:cNvPr id="26" name="Shape 24"/>
          <p:cNvSpPr/>
          <p:nvPr/>
        </p:nvSpPr>
        <p:spPr>
          <a:xfrm>
            <a:off x="7159752" y="2221992"/>
            <a:ext cx="1207008" cy="0"/>
          </a:xfrm>
          <a:prstGeom prst="line">
            <a:avLst/>
          </a:prstGeom>
          <a:noFill/>
          <a:ln w="635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068312" y="2331720"/>
            <a:ext cx="138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2025 Projections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068312" y="3154680"/>
            <a:ext cx="13898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8DC"/>
                </a:solidFill>
              </a:rPr>
              <a:t>Week-by-week updates, cap analysis</a:t>
            </a:r>
            <a:endParaRPr lang="en-US" sz="900" dirty="0"/>
          </a:p>
        </p:txBody>
      </p:sp>
      <p:pic>
        <p:nvPicPr>
          <p:cNvPr id="30" name="Picture 29" descr="The image is a table of contents for a document or presentation, outlining topics such as data features, projections, salary cap analysis, and market strategies, with a focus on sports analytics.&#10;&#10;AI-generated content may be incorrect.">
            <a:extLst>
              <a:ext uri="{FF2B5EF4-FFF2-40B4-BE49-F238E27FC236}">
                <a16:creationId xmlns:a16="http://schemas.microsoft.com/office/drawing/2014/main" id="{47AB09F2-6F78-F1F6-1636-D84F247280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8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7602" y="-13716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0" b="1" dirty="0">
                <a:solidFill>
                  <a:srgbClr val="0D2035"/>
                </a:solidFill>
              </a:rPr>
              <a:t>01</a:t>
            </a:r>
            <a:endParaRPr lang="en-US" sz="16000" dirty="0"/>
          </a:p>
        </p:txBody>
      </p:sp>
      <p:sp>
        <p:nvSpPr>
          <p:cNvPr id="3" name="Shape 1"/>
          <p:cNvSpPr/>
          <p:nvPr/>
        </p:nvSpPr>
        <p:spPr>
          <a:xfrm>
            <a:off x="502920" y="1417320"/>
            <a:ext cx="73152" cy="1645920"/>
          </a:xfrm>
          <a:prstGeom prst="rect">
            <a:avLst/>
          </a:prstGeom>
          <a:solidFill>
            <a:srgbClr val="C8521A"/>
          </a:solidFill>
          <a:ln w="12700">
            <a:solidFill>
              <a:srgbClr val="C85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85800" y="141732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The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Problem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85800" y="297180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8DC"/>
                </a:solidFill>
              </a:rPr>
              <a:t>Can on-field statistics predict NFL outcomes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B8C8DC"/>
                </a:solidFill>
              </a:rPr>
              <a:t>as accurately as the betting market?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303520" y="2331720"/>
            <a:ext cx="3566160" cy="2148840"/>
          </a:xfrm>
          <a:prstGeom prst="rect">
            <a:avLst/>
          </a:prstGeom>
          <a:solidFill>
            <a:srgbClr val="1A2E45"/>
          </a:solidFill>
          <a:ln w="6350">
            <a:solidFill>
              <a:srgbClr val="2A4060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303520" y="2331720"/>
            <a:ext cx="64008" cy="2148840"/>
          </a:xfrm>
          <a:prstGeom prst="rect">
            <a:avLst/>
          </a:prstGeom>
          <a:solidFill>
            <a:srgbClr val="C8521A"/>
          </a:solidFill>
          <a:ln w="12700">
            <a:solidFill>
              <a:srgbClr val="C85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40680" y="24231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521A"/>
                </a:solidFill>
              </a:rPr>
              <a:t>The Deliverable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40680" y="2788920"/>
            <a:ext cx="3337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8DC"/>
                </a:solidFill>
              </a:rPr>
              <a:t>Before every game of the 2025 NFL season, produce an updated projected final W-L record for all 32 teams.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164592"/>
            <a:ext cx="1371600" cy="256032"/>
          </a:xfrm>
          <a:prstGeom prst="rect">
            <a:avLst/>
          </a:prstGeom>
          <a:solidFill>
            <a:srgbClr val="1A2E45"/>
          </a:solidFill>
          <a:ln w="635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58952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8899AA"/>
                </a:solidFill>
              </a:rPr>
              <a:t>THE PROBLEM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</a:rPr>
              <a:t>Data Foundation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858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Source: Pro Football Reference via nfl_data_py  |  Seasons: 2018-2025  |  Train: 2018-2024  |  Test: 2025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024128"/>
            <a:ext cx="1627632" cy="1207008"/>
          </a:xfrm>
          <a:prstGeom prst="rect">
            <a:avLst/>
          </a:prstGeom>
          <a:solidFill>
            <a:srgbClr val="1A2E45"/>
          </a:solidFill>
          <a:ln w="6350">
            <a:solidFill>
              <a:srgbClr val="2A4060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113739"/>
            <a:ext cx="1627632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8521A"/>
                </a:solidFill>
              </a:rPr>
              <a:t>4,254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1651772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Game rows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1893174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8C8DC"/>
                </a:solidFill>
              </a:rPr>
              <a:t>(2018-2025)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020824" y="1022848"/>
            <a:ext cx="1627632" cy="1207008"/>
          </a:xfrm>
          <a:prstGeom prst="rect">
            <a:avLst/>
          </a:prstGeom>
          <a:solidFill>
            <a:srgbClr val="1A2E45"/>
          </a:solidFill>
          <a:ln w="6350">
            <a:solidFill>
              <a:srgbClr val="2A4060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020824" y="1102217"/>
            <a:ext cx="1627632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8521A"/>
                </a:solidFill>
              </a:rPr>
              <a:t>2 rows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020824" y="1651772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Per game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20824" y="1893174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8C8DC"/>
                </a:solidFill>
              </a:rPr>
              <a:t>(one per team)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721608" y="1024128"/>
            <a:ext cx="1627632" cy="1207008"/>
          </a:xfrm>
          <a:prstGeom prst="rect">
            <a:avLst/>
          </a:prstGeom>
          <a:solidFill>
            <a:srgbClr val="1A2E45"/>
          </a:solidFill>
          <a:ln w="6350">
            <a:solidFill>
              <a:srgbClr val="2A4060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721608" y="1097155"/>
            <a:ext cx="1627632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8521A"/>
                </a:solidFill>
              </a:rPr>
              <a:t>42+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721608" y="1651772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Features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engineered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721608" y="1917921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8C8DC"/>
                </a:solidFill>
              </a:rPr>
              <a:t>Base + Vegas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B8C8DC"/>
                </a:solidFill>
              </a:rPr>
              <a:t>+ context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422392" y="1024128"/>
            <a:ext cx="1627632" cy="1207008"/>
          </a:xfrm>
          <a:prstGeom prst="rect">
            <a:avLst/>
          </a:prstGeom>
          <a:solidFill>
            <a:srgbClr val="1A2E45"/>
          </a:solidFill>
          <a:ln w="6350">
            <a:solidFill>
              <a:srgbClr val="2A4060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22392" y="1086300"/>
            <a:ext cx="1627632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8521A"/>
                </a:solidFill>
              </a:rPr>
              <a:t>2018+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422392" y="1651772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Advanced stats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window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22392" y="1910025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8C8DC"/>
                </a:solidFill>
              </a:rPr>
              <a:t>PFR pressure rate,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B8C8DC"/>
                </a:solidFill>
              </a:rPr>
              <a:t>YAC, coverage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123176" y="1024128"/>
            <a:ext cx="1627632" cy="1207008"/>
          </a:xfrm>
          <a:prstGeom prst="rect">
            <a:avLst/>
          </a:prstGeom>
          <a:solidFill>
            <a:srgbClr val="1A2E45"/>
          </a:solidFill>
          <a:ln w="6350">
            <a:solidFill>
              <a:srgbClr val="2A4060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123176" y="1083198"/>
            <a:ext cx="1627632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8521A"/>
                </a:solidFill>
              </a:rPr>
              <a:t>7 yrs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7123176" y="1651772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Training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window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23176" y="1916425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8C8DC"/>
                </a:solidFill>
              </a:rPr>
              <a:t>2018-2024 train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B8C8DC"/>
                </a:solidFill>
              </a:rPr>
              <a:t>2025 test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20040" y="2414016"/>
            <a:ext cx="8503920" cy="502920"/>
          </a:xfrm>
          <a:prstGeom prst="rect">
            <a:avLst/>
          </a:prstGeom>
          <a:solidFill>
            <a:srgbClr val="EAEFF5"/>
          </a:solidFill>
          <a:ln w="6350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20040" y="2414016"/>
            <a:ext cx="45720" cy="502920"/>
          </a:xfrm>
          <a:prstGeom prst="rect">
            <a:avLst/>
          </a:prstGeom>
          <a:solidFill>
            <a:srgbClr val="C8521A"/>
          </a:solidFill>
          <a:ln w="12700">
            <a:solidFill>
              <a:srgbClr val="C85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" y="245973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Rolling Efficiency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148840" y="2459736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Net YPA diff, 3rd down rate, yards per target, pressure rate — all lagged pre-game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" y="2990088"/>
            <a:ext cx="8503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20040" y="2990088"/>
            <a:ext cx="45720" cy="502920"/>
          </a:xfrm>
          <a:prstGeom prst="rect">
            <a:avLst/>
          </a:prstGeom>
          <a:solidFill>
            <a:srgbClr val="C8521A"/>
          </a:solidFill>
          <a:ln w="12700">
            <a:solidFill>
              <a:srgbClr val="C85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57200" y="303580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Custom ELO Ratings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148840" y="3035808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Separate offensive &amp; defensive ELO per team, updated after each game, carried season-to-season with decay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040" y="3566160"/>
            <a:ext cx="8503920" cy="502920"/>
          </a:xfrm>
          <a:prstGeom prst="rect">
            <a:avLst/>
          </a:prstGeom>
          <a:solidFill>
            <a:srgbClr val="EAEFF5"/>
          </a:solidFill>
          <a:ln w="6350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20040" y="3566160"/>
            <a:ext cx="45720" cy="502920"/>
          </a:xfrm>
          <a:prstGeom prst="rect">
            <a:avLst/>
          </a:prstGeom>
          <a:solidFill>
            <a:srgbClr val="C8521A"/>
          </a:solidFill>
          <a:ln w="12700">
            <a:solidFill>
              <a:srgbClr val="C85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57200" y="36118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Game Context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148840" y="361188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Home/away, rest days, week of season, playoff stakes flags, division game indicator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0040" y="4142232"/>
            <a:ext cx="8503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320040" y="4142232"/>
            <a:ext cx="45720" cy="502920"/>
          </a:xfrm>
          <a:prstGeom prst="rect">
            <a:avLst/>
          </a:prstGeom>
          <a:solidFill>
            <a:srgbClr val="C8521A"/>
          </a:solidFill>
          <a:ln w="12700">
            <a:solidFill>
              <a:srgbClr val="C85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57200" y="418795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Vegas Lines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148840" y="4187952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Spread and total as optional features — kept in a separate model track to avoid double-counting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164592"/>
            <a:ext cx="1371600" cy="256032"/>
          </a:xfrm>
          <a:prstGeom prst="rect">
            <a:avLst/>
          </a:prstGeom>
          <a:solidFill>
            <a:srgbClr val="1A2E45"/>
          </a:solidFill>
          <a:ln w="635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58952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8899AA"/>
                </a:solidFill>
              </a:rPr>
              <a:t>THE PROBLEM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</a:rPr>
              <a:t>Feature Engineering Approach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858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PFR advanced stats sourced via nfl_data_py  |  Situational features rebuilt from play-by-play data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051560"/>
            <a:ext cx="4114800" cy="3611880"/>
          </a:xfrm>
          <a:prstGeom prst="rect">
            <a:avLst/>
          </a:prstGeom>
          <a:solidFill>
            <a:srgbClr val="0B1829"/>
          </a:solidFill>
          <a:ln w="6350">
            <a:solidFill>
              <a:srgbClr val="2A4060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1704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521A"/>
                </a:solidFill>
              </a:rPr>
              <a:t>Why nfl_data_py?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664208"/>
            <a:ext cx="54864" cy="594360"/>
          </a:xfrm>
          <a:prstGeom prst="rect">
            <a:avLst/>
          </a:prstGeom>
          <a:solidFill>
            <a:srgbClr val="C8521A"/>
          </a:solidFill>
          <a:ln w="12700">
            <a:solidFill>
              <a:srgbClr val="C85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1682496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C8DC"/>
                </a:solidFill>
              </a:rPr>
              <a:t>Initial scraping of PFR proved unstable — rate-limited and HTML changes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532888"/>
            <a:ext cx="54864" cy="594360"/>
          </a:xfrm>
          <a:prstGeom prst="rect">
            <a:avLst/>
          </a:prstGeom>
          <a:solidFill>
            <a:srgbClr val="C8521A"/>
          </a:solidFill>
          <a:ln w="12700">
            <a:solidFill>
              <a:srgbClr val="C85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2551176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C8DC"/>
                </a:solidFill>
              </a:rPr>
              <a:t>nfl_data_py exposes the same PFR advanced metrics via a clean, versioned API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401568"/>
            <a:ext cx="54864" cy="594360"/>
          </a:xfrm>
          <a:prstGeom prst="rect">
            <a:avLst/>
          </a:prstGeom>
          <a:solidFill>
            <a:srgbClr val="C8521A"/>
          </a:solidFill>
          <a:ln w="12700">
            <a:solidFill>
              <a:srgbClr val="C85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3419856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8C8DC"/>
                </a:solidFill>
              </a:rPr>
              <a:t>More reproducible and avoids scraping fragility while preserving full PFR fidelity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051560"/>
            <a:ext cx="4160520" cy="3611880"/>
          </a:xfrm>
          <a:prstGeom prst="rect">
            <a:avLst/>
          </a:prstGeom>
          <a:solidFill>
            <a:srgbClr val="0B1829"/>
          </a:solidFill>
          <a:ln w="6350">
            <a:solidFill>
              <a:srgbClr val="2A4060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00600" y="11704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521A"/>
                </a:solidFill>
              </a:rPr>
              <a:t>Play-by-Play Reconstruction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63440" y="1600200"/>
            <a:ext cx="54864" cy="566928"/>
          </a:xfrm>
          <a:prstGeom prst="rect">
            <a:avLst/>
          </a:prstGeom>
          <a:solidFill>
            <a:srgbClr val="C8521A"/>
          </a:solidFill>
          <a:ln w="12700">
            <a:solidFill>
              <a:srgbClr val="C85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00600" y="161848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3rd Down Conv. Rate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00600" y="18745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8DC"/>
                </a:solidFill>
              </a:rPr>
              <a:t>Rebuilt from PBP — not available as a pre-computed game stat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2350008"/>
            <a:ext cx="54864" cy="566928"/>
          </a:xfrm>
          <a:prstGeom prst="rect">
            <a:avLst/>
          </a:prstGeom>
          <a:solidFill>
            <a:srgbClr val="C8521A"/>
          </a:solidFill>
          <a:ln w="12700">
            <a:solidFill>
              <a:srgbClr val="C85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00600" y="236829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Net YPA Differential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00600" y="26243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8DC"/>
                </a:solidFill>
              </a:rPr>
              <a:t>Pass yards / attempts per team minus opponent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63440" y="3099816"/>
            <a:ext cx="54864" cy="566928"/>
          </a:xfrm>
          <a:prstGeom prst="rect">
            <a:avLst/>
          </a:prstGeom>
          <a:solidFill>
            <a:srgbClr val="C8521A"/>
          </a:solidFill>
          <a:ln w="12700">
            <a:solidFill>
              <a:srgbClr val="C85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00600" y="311810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Pressure Rate Diff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00600" y="337413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8DC"/>
                </a:solidFill>
              </a:rPr>
              <a:t>% of pass plays with QB pressure, home vs away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3849624"/>
            <a:ext cx="54864" cy="566928"/>
          </a:xfrm>
          <a:prstGeom prst="rect">
            <a:avLst/>
          </a:prstGeom>
          <a:solidFill>
            <a:srgbClr val="C8521A"/>
          </a:solidFill>
          <a:ln w="12700">
            <a:solidFill>
              <a:srgbClr val="C85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00600" y="386791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Turnover Margin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00600" y="412394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8DC"/>
                </a:solidFill>
              </a:rPr>
              <a:t>Fumbles + interceptions, net differential per game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8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457200"/>
            <a:ext cx="2926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8000" b="1" dirty="0">
                <a:solidFill>
                  <a:srgbClr val="0D2035"/>
                </a:solidFill>
              </a:rPr>
              <a:t>02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502920" y="1645920"/>
            <a:ext cx="73152" cy="1828800"/>
          </a:xfrm>
          <a:prstGeom prst="rect">
            <a:avLst/>
          </a:prstGeom>
          <a:solidFill>
            <a:srgbClr val="C8521A"/>
          </a:solidFill>
          <a:ln w="12700">
            <a:solidFill>
              <a:srgbClr val="C85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85800" y="164592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Exploratory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Data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Analysis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85800" y="370332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8C8DC"/>
                </a:solidFill>
              </a:rPr>
              <a:t>Before building any model,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B8C8DC"/>
                </a:solidFill>
              </a:rPr>
              <a:t>what does the data actually tell us?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164592"/>
            <a:ext cx="1371600" cy="256032"/>
          </a:xfrm>
          <a:prstGeom prst="rect">
            <a:avLst/>
          </a:prstGeom>
          <a:solidFill>
            <a:srgbClr val="1A2E45"/>
          </a:solidFill>
          <a:ln w="635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58952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8899AA"/>
                </a:solidFill>
              </a:rPr>
              <a:t>EDA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1148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</a:rPr>
              <a:t>What Actually Predicts Winning?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Game-level correlation with win probability — 2018-2024 data  |  Higher = stronger predictor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20040" y="896112"/>
          <a:ext cx="850392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164592"/>
            <a:ext cx="1371600" cy="256032"/>
          </a:xfrm>
          <a:prstGeom prst="rect">
            <a:avLst/>
          </a:prstGeom>
          <a:solidFill>
            <a:srgbClr val="1A2E45"/>
          </a:solidFill>
          <a:ln w="635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58952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8899AA"/>
                </a:solidFill>
              </a:rPr>
              <a:t>EDA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</a:rPr>
              <a:t>Setting the Bar: Vegas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858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Vegas spread accuracy measured on 2025 test set W1-17  |  Spread converts to win prob via normal distribution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3657600" cy="3474720"/>
          </a:xfrm>
          <a:prstGeom prst="rect">
            <a:avLst/>
          </a:prstGeom>
          <a:solidFill>
            <a:srgbClr val="0B1829"/>
          </a:solidFill>
          <a:ln w="6350">
            <a:solidFill>
              <a:srgbClr val="2A4060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C8521A"/>
                </a:solidFill>
              </a:rPr>
              <a:t>65.6%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411480" y="2880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Vegas straight-up accuracy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32186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C8DC"/>
                </a:solidFill>
              </a:rPr>
              <a:t>2025 season, W1-17 game-level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51960" y="1097280"/>
            <a:ext cx="4663440" cy="1664208"/>
          </a:xfrm>
          <a:prstGeom prst="rect">
            <a:avLst/>
          </a:prstGeom>
          <a:solidFill>
            <a:srgbClr val="EEF2F7"/>
          </a:solidFill>
          <a:ln w="6350">
            <a:solidFill>
              <a:srgbClr val="C8D6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251960" y="1097280"/>
            <a:ext cx="64008" cy="166420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0" y="1170432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Why not just use the spread?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0" y="1517904"/>
            <a:ext cx="44348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Vegas prices in injuries, weather, travel, and private scouting. Including it as a feature collapses all other variables and obscures what stats actually drive wins.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51960" y="2907792"/>
            <a:ext cx="4663440" cy="1664208"/>
          </a:xfrm>
          <a:prstGeom prst="rect">
            <a:avLst/>
          </a:prstGeom>
          <a:solidFill>
            <a:srgbClr val="EEF2F7"/>
          </a:solidFill>
          <a:ln w="6350">
            <a:solidFill>
              <a:srgbClr val="C8D6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251960" y="2907792"/>
            <a:ext cx="64008" cy="1664208"/>
          </a:xfrm>
          <a:prstGeom prst="rect">
            <a:avLst/>
          </a:prstGeom>
          <a:solidFill>
            <a:srgbClr val="C8521A"/>
          </a:solidFill>
          <a:ln w="12700">
            <a:solidFill>
              <a:srgbClr val="C85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389120" y="2980944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Two-track approach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89120" y="3346704"/>
            <a:ext cx="44348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Track 1: </a:t>
            </a:r>
            <a:r>
              <a:rPr lang="en-US" sz="1200" dirty="0">
                <a:solidFill>
                  <a:srgbClr val="475569"/>
                </a:solidFill>
              </a:rPr>
              <a:t>Stats-only model (can we explain wins?)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
</a:t>
            </a:r>
            <a:r>
              <a:rPr lang="en-US" sz="1200" b="1" dirty="0">
                <a:solidFill>
                  <a:srgbClr val="1E293B"/>
                </a:solidFill>
              </a:rPr>
              <a:t>Track 2: </a:t>
            </a:r>
            <a:r>
              <a:rPr lang="en-US" sz="1200" dirty="0">
                <a:solidFill>
                  <a:srgbClr val="475569"/>
                </a:solidFill>
              </a:rPr>
              <a:t>Vegas-augmented (how much does the market add?)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164592"/>
            <a:ext cx="1371600" cy="256032"/>
          </a:xfrm>
          <a:prstGeom prst="rect">
            <a:avLst/>
          </a:prstGeom>
          <a:solidFill>
            <a:srgbClr val="1A2E45"/>
          </a:solidFill>
          <a:ln w="635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58952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8899AA"/>
                </a:solidFill>
              </a:rPr>
              <a:t>THE PROBLEM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</a:rPr>
              <a:t>Why ELO? And Why Split It?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858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ELO win = did the team eclipse the season-to-date median net yards per play (passing + rushing, net of sack yards)?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051560"/>
            <a:ext cx="2743200" cy="3611880"/>
          </a:xfrm>
          <a:prstGeom prst="rect">
            <a:avLst/>
          </a:prstGeom>
          <a:solidFill>
            <a:srgbClr val="0B1829"/>
          </a:solidFill>
          <a:ln w="6350">
            <a:solidFill>
              <a:srgbClr val="2A4060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17043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521A"/>
                </a:solidFill>
              </a:rPr>
              <a:t>What is ELO?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664208"/>
            <a:ext cx="54864" cy="594360"/>
          </a:xfrm>
          <a:prstGeom prst="rect">
            <a:avLst/>
          </a:prstGeom>
          <a:solidFill>
            <a:srgbClr val="C8521A"/>
          </a:solidFill>
          <a:ln w="12700">
            <a:solidFill>
              <a:srgbClr val="C85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1682496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8C8DC"/>
                </a:solidFill>
              </a:rPr>
              <a:t>Self-correcting rating system — updates after every result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532888"/>
            <a:ext cx="54864" cy="594360"/>
          </a:xfrm>
          <a:prstGeom prst="rect">
            <a:avLst/>
          </a:prstGeom>
          <a:solidFill>
            <a:srgbClr val="C8521A"/>
          </a:solidFill>
          <a:ln w="12700">
            <a:solidFill>
              <a:srgbClr val="C85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2551176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8C8DC"/>
                </a:solidFill>
              </a:rPr>
              <a:t>Beating a strong opponent earns more than beating a weak one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401568"/>
            <a:ext cx="54864" cy="594360"/>
          </a:xfrm>
          <a:prstGeom prst="rect">
            <a:avLst/>
          </a:prstGeom>
          <a:solidFill>
            <a:srgbClr val="C8521A"/>
          </a:solidFill>
          <a:ln w="12700">
            <a:solidFill>
              <a:srgbClr val="C85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3419856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8C8DC"/>
                </a:solidFill>
              </a:rPr>
              <a:t>Provides game-to-game memory without explicit form features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91840" y="1051560"/>
            <a:ext cx="2743200" cy="3611880"/>
          </a:xfrm>
          <a:prstGeom prst="rect">
            <a:avLst/>
          </a:prstGeom>
          <a:solidFill>
            <a:srgbClr val="0B1829"/>
          </a:solidFill>
          <a:ln w="6350">
            <a:solidFill>
              <a:srgbClr val="2A4060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29000" y="117043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521A"/>
                </a:solidFill>
              </a:rPr>
              <a:t>Why Split Offense/Defense?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429000" y="1664208"/>
            <a:ext cx="54864" cy="594360"/>
          </a:xfrm>
          <a:prstGeom prst="rect">
            <a:avLst/>
          </a:prstGeom>
          <a:solidFill>
            <a:srgbClr val="C8521A"/>
          </a:solidFill>
          <a:ln w="12700">
            <a:solidFill>
              <a:srgbClr val="C85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566160" y="1682496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8C8DC"/>
                </a:solidFill>
              </a:rPr>
              <a:t>Football has two distinct contests per game — one-unit ELO misses this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429000" y="2532888"/>
            <a:ext cx="54864" cy="594360"/>
          </a:xfrm>
          <a:prstGeom prst="rect">
            <a:avLst/>
          </a:prstGeom>
          <a:solidFill>
            <a:srgbClr val="C8521A"/>
          </a:solidFill>
          <a:ln w="12700">
            <a:solidFill>
              <a:srgbClr val="C85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566160" y="2551176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8C8DC"/>
                </a:solidFill>
              </a:rPr>
              <a:t>17-game seasons = small sample; splitting gives 2x signal per game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429000" y="3401568"/>
            <a:ext cx="54864" cy="594360"/>
          </a:xfrm>
          <a:prstGeom prst="rect">
            <a:avLst/>
          </a:prstGeom>
          <a:solidFill>
            <a:srgbClr val="C8521A"/>
          </a:solidFill>
          <a:ln w="12700">
            <a:solidFill>
              <a:srgbClr val="C85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566160" y="3419856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8C8DC"/>
                </a:solidFill>
              </a:rPr>
              <a:t>Each component is more stable and matters most early in the season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72200" y="1051560"/>
            <a:ext cx="2651760" cy="804672"/>
          </a:xfrm>
          <a:prstGeom prst="rect">
            <a:avLst/>
          </a:prstGeom>
          <a:solidFill>
            <a:srgbClr val="1A2E45"/>
          </a:solidFill>
          <a:ln w="635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172200" y="1051560"/>
            <a:ext cx="54864" cy="804672"/>
          </a:xfrm>
          <a:prstGeom prst="rect">
            <a:avLst/>
          </a:prstGeom>
          <a:solidFill>
            <a:srgbClr val="C8521A"/>
          </a:solidFill>
          <a:ln w="12700">
            <a:solidFill>
              <a:srgbClr val="C85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291072" y="1106424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Team Offense ELO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91072" y="1307592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521A"/>
                </a:solidFill>
              </a:rPr>
              <a:t>Range: 1340-1644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291072" y="1472184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8DC"/>
                </a:solidFill>
              </a:rPr>
              <a:t>Above season-to-date median net yards per play?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172200" y="1965960"/>
            <a:ext cx="2651760" cy="804672"/>
          </a:xfrm>
          <a:prstGeom prst="rect">
            <a:avLst/>
          </a:prstGeom>
          <a:solidFill>
            <a:srgbClr val="1A2E45"/>
          </a:solidFill>
          <a:ln w="635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172200" y="1965960"/>
            <a:ext cx="54864" cy="804672"/>
          </a:xfrm>
          <a:prstGeom prst="rect">
            <a:avLst/>
          </a:prstGeom>
          <a:solidFill>
            <a:srgbClr val="C8521A"/>
          </a:solidFill>
          <a:ln w="12700">
            <a:solidFill>
              <a:srgbClr val="C85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291072" y="2020824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Team Defense ELO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91072" y="2221992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521A"/>
                </a:solidFill>
              </a:rPr>
              <a:t>Range: 1383-1636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291072" y="2386584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8DC"/>
                </a:solidFill>
              </a:rPr>
              <a:t>Held opponent below median net YPP?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172200" y="2880360"/>
            <a:ext cx="2651760" cy="804672"/>
          </a:xfrm>
          <a:prstGeom prst="rect">
            <a:avLst/>
          </a:prstGeom>
          <a:solidFill>
            <a:srgbClr val="1A2E45"/>
          </a:solidFill>
          <a:ln w="635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172200" y="2880360"/>
            <a:ext cx="54864" cy="8046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291072" y="2935224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Opp. Offense ELO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91072" y="3136392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B82F6"/>
                </a:solidFill>
              </a:rPr>
              <a:t>Range: 1340-1644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291072" y="3300984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8DC"/>
                </a:solidFill>
              </a:rPr>
              <a:t>How strong is the opponent's offensive efficiency rating?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172200" y="3794760"/>
            <a:ext cx="2651760" cy="804672"/>
          </a:xfrm>
          <a:prstGeom prst="rect">
            <a:avLst/>
          </a:prstGeom>
          <a:solidFill>
            <a:srgbClr val="1A2E45"/>
          </a:solidFill>
          <a:ln w="635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172200" y="3794760"/>
            <a:ext cx="54864" cy="8046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291072" y="3849624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Opp. Defense ELO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91072" y="4050792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B82F6"/>
                </a:solidFill>
              </a:rPr>
              <a:t>Range: 1383-1636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291072" y="4215384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8DC"/>
                </a:solidFill>
              </a:rPr>
              <a:t>How well does the opponent suppress net YPP?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8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457200"/>
            <a:ext cx="2926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8000" b="1" dirty="0">
                <a:solidFill>
                  <a:srgbClr val="0D2035"/>
                </a:solidFill>
              </a:rPr>
              <a:t>03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502920" y="1645920"/>
            <a:ext cx="73152" cy="1828800"/>
          </a:xfrm>
          <a:prstGeom prst="rect">
            <a:avLst/>
          </a:prstGeom>
          <a:solidFill>
            <a:srgbClr val="C8521A"/>
          </a:solidFill>
          <a:ln w="12700">
            <a:solidFill>
              <a:srgbClr val="C85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85800" y="164592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Non-Vegas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Model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85800" y="324612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8C8DC"/>
                </a:solidFill>
              </a:rPr>
              <a:t>5-model suite. Train: 2018-2024. Test: 2025 W1-17.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164592"/>
            <a:ext cx="1371600" cy="256032"/>
          </a:xfrm>
          <a:prstGeom prst="rect">
            <a:avLst/>
          </a:prstGeom>
          <a:solidFill>
            <a:srgbClr val="1A2E45"/>
          </a:solidFill>
          <a:ln w="635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58952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8899AA"/>
                </a:solidFill>
              </a:rPr>
              <a:t>NON-VEGAS MODEL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</a:rPr>
              <a:t>Non-Vegas Model Performance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858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Test set: 2025 W1-17 game-level accuracy  |  One independent prediction per game  |  Primary metric: Test Acc (game)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8321040" cy="365760"/>
          </a:xfrm>
          <a:prstGeom prst="rect">
            <a:avLst/>
          </a:prstGeom>
          <a:solidFill>
            <a:srgbClr val="0B1829"/>
          </a:solidFill>
          <a:ln w="12700">
            <a:solidFill>
              <a:srgbClr val="0B18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0789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</a:rPr>
              <a:t>Model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154680" y="107899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Test Acc (Game)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389120" y="107899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Train Acc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23560" y="107899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Gap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537960" y="107899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AUC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543800" y="107899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Brier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1444752"/>
            <a:ext cx="8321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76072" y="1444752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</a:rPr>
              <a:t>XGBoost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154680" y="144475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62.11%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89120" y="144475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75.74%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23560" y="14447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+13.6%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37960" y="144475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0.661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543800" y="144475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0.233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1901952"/>
            <a:ext cx="8321040" cy="457200"/>
          </a:xfrm>
          <a:prstGeom prst="rect">
            <a:avLst/>
          </a:prstGeom>
          <a:solidFill>
            <a:srgbClr val="F4F6F8"/>
          </a:solidFill>
          <a:ln w="6350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76072" y="1901952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</a:rPr>
              <a:t>Random Forest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154680" y="190195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61.72%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89120" y="190195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68.68%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623560" y="19019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+7.0%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37960" y="190195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0.676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543800" y="190195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0.227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11480" y="2359152"/>
            <a:ext cx="8321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76072" y="2359152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</a:rPr>
              <a:t>Logistic Regression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154680" y="235915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60.94%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389120" y="235915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63.12%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623560" y="23591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+2.2%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537960" y="235915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0.673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543800" y="235915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0.227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11480" y="2816352"/>
            <a:ext cx="8321040" cy="457200"/>
          </a:xfrm>
          <a:prstGeom prst="rect">
            <a:avLst/>
          </a:prstGeom>
          <a:solidFill>
            <a:srgbClr val="F4F6F8"/>
          </a:solidFill>
          <a:ln w="6350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76072" y="2816352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</a:rPr>
              <a:t>Ridge Classifier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154680" y="281635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60.55%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389120" y="281635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63.23%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623560" y="28163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+2.7%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537960" y="281635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--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543800" y="281635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--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11480" y="3273552"/>
            <a:ext cx="8321040" cy="457200"/>
          </a:xfrm>
          <a:prstGeom prst="rect">
            <a:avLst/>
          </a:prstGeom>
          <a:solidFill>
            <a:srgbClr val="FFF2EB"/>
          </a:solidFill>
          <a:ln w="6350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11480" y="3273552"/>
            <a:ext cx="54864" cy="457200"/>
          </a:xfrm>
          <a:prstGeom prst="rect">
            <a:avLst/>
          </a:prstGeom>
          <a:solidFill>
            <a:srgbClr val="C8521A"/>
          </a:solidFill>
          <a:ln w="12700">
            <a:solidFill>
              <a:srgbClr val="C85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76072" y="3273552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</a:rPr>
              <a:t>Neural Network (MLP)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154680" y="327355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8521A"/>
                </a:solidFill>
              </a:rPr>
              <a:t>65.62%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389120" y="327355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62.65%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623560" y="32735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-3.0%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537960" y="327355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0.673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543800" y="327355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0.227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11480" y="3742672"/>
            <a:ext cx="8321040" cy="457200"/>
          </a:xfrm>
          <a:prstGeom prst="rect">
            <a:avLst/>
          </a:prstGeom>
          <a:solidFill>
            <a:srgbClr val="E3E8F0"/>
          </a:solidFill>
          <a:ln w="6350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411480" y="3730752"/>
            <a:ext cx="54864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76072" y="3730752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52A0"/>
                </a:solidFill>
              </a:rPr>
              <a:t>Vegas Baseline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154680" y="373075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B52A0"/>
                </a:solidFill>
              </a:rPr>
              <a:t>65.62%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389120" y="373075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B52A0"/>
                </a:solidFill>
              </a:rPr>
              <a:t>--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623560" y="37307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B52A0"/>
                </a:solidFill>
              </a:rPr>
              <a:t>--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537960" y="373075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B52A0"/>
                </a:solidFill>
              </a:rPr>
              <a:t>--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543800" y="373075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B52A0"/>
                </a:solidFill>
              </a:rPr>
              <a:t>--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38912" y="4187952"/>
            <a:ext cx="5029200" cy="457200"/>
          </a:xfrm>
          <a:prstGeom prst="rect">
            <a:avLst/>
          </a:prstGeom>
          <a:solidFill>
            <a:srgbClr val="FFF2EB"/>
          </a:solidFill>
          <a:ln w="6350">
            <a:solidFill>
              <a:srgbClr val="C85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512064" y="418795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8521A"/>
                </a:solidFill>
              </a:rPr>
              <a:t>Neural Network (MLP): 65.62% accuracy — ties Vegas straight-up at 65.6%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5468112" y="4199872"/>
            <a:ext cx="3264408" cy="457200"/>
          </a:xfrm>
          <a:prstGeom prst="rect">
            <a:avLst/>
          </a:prstGeom>
          <a:solidFill>
            <a:srgbClr val="E8EEF8"/>
          </a:solidFill>
          <a:ln w="6350">
            <a:solidFill>
              <a:srgbClr val="3B52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5577840" y="419987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B52A0"/>
                </a:solidFill>
              </a:rPr>
              <a:t>Walk-forward CV tuning  |  No future data used in training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164592"/>
            <a:ext cx="1371600" cy="256032"/>
          </a:xfrm>
          <a:prstGeom prst="rect">
            <a:avLst/>
          </a:prstGeom>
          <a:solidFill>
            <a:srgbClr val="1A2E45"/>
          </a:solidFill>
          <a:ln w="635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58952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8899AA"/>
                </a:solidFill>
              </a:rPr>
              <a:t>NON-VEGAS MODEL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11480" y="1097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</a:rPr>
              <a:t>What the Neural Network Learned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MLP Neural Network  |  KernelExplainer (approximation)  |  Top features by mean |SHAP value|  |  Note: MLP features are harder to interpret than tree models</a:t>
            </a:r>
            <a:endParaRPr lang="en-US" sz="900" dirty="0"/>
          </a:p>
        </p:txBody>
      </p:sp>
      <p:pic>
        <p:nvPicPr>
          <p:cNvPr id="8" name="Picture 7" descr="The image depicts a bar chart showing SHAP (SHapley Additive exPlanations) feature importance values for various factors in a Neural Network (MLP) model, indicating their impact on predictions.&#10;&#10;AI-generated content may be incorrect.">
            <a:extLst>
              <a:ext uri="{FF2B5EF4-FFF2-40B4-BE49-F238E27FC236}">
                <a16:creationId xmlns:a16="http://schemas.microsoft.com/office/drawing/2014/main" id="{107213B0-D0C4-7355-2EF0-5C7C70B274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pic>
        <p:nvPicPr>
          <p:cNvPr id="10" name="Picture 9" descr="The image displays a bar chart with various features ranked by their SHAP (SHapley Additive exPlanation) values for a Neural Network (MLP) model, indicating their importance in explaining the model's predictions.&#10;&#10;AI-generated content may be incorrect.">
            <a:extLst>
              <a:ext uri="{FF2B5EF4-FFF2-40B4-BE49-F238E27FC236}">
                <a16:creationId xmlns:a16="http://schemas.microsoft.com/office/drawing/2014/main" id="{A6B5E1C2-DB8F-FA38-590F-0A23C1C9F4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9" y="0"/>
            <a:ext cx="9141571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164592"/>
            <a:ext cx="1371600" cy="256032"/>
          </a:xfrm>
          <a:prstGeom prst="rect">
            <a:avLst/>
          </a:prstGeom>
          <a:solidFill>
            <a:srgbClr val="1A2E45"/>
          </a:solidFill>
          <a:ln w="635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58952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8899AA"/>
                </a:solidFill>
              </a:rPr>
              <a:t>NON-VEGAS MODEL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11480" y="1097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</a:rPr>
              <a:t>What Drives a Win? (Random Forest)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Random Forest (64.45% accuracy)  |  TreeExplainer — exact SHAP values  |  Slightly less accurate than MLP but far more interpretable</a:t>
            </a:r>
            <a:endParaRPr lang="en-US" sz="900" dirty="0"/>
          </a:p>
        </p:txBody>
      </p:sp>
      <p:pic>
        <p:nvPicPr>
          <p:cNvPr id="10" name="Picture 9" descr="The image depicts a bar chart showing the SHap (SHapley Additive Explanation) feature importance values for various statistics in a Random Forest model, with 'total_elo_diff' having the highest importance at 0.033.&#10;&#10;AI-generated content may be incorrect.">
            <a:extLst>
              <a:ext uri="{FF2B5EF4-FFF2-40B4-BE49-F238E27FC236}">
                <a16:creationId xmlns:a16="http://schemas.microsoft.com/office/drawing/2014/main" id="{E49C8E72-A37A-40EF-8F08-713BD3C3F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pic>
        <p:nvPicPr>
          <p:cNvPr id="12" name="Picture 11" descr="The image presents a bar chart depicting the SHAP (SHapley Additive exPlanations) values for various features, showing their importance in a Random Forest model, sorted by their impact on a prediction, with features ranging from game statistics to team information.&#10;&#10;AI-generated content may be incorrect.">
            <a:extLst>
              <a:ext uri="{FF2B5EF4-FFF2-40B4-BE49-F238E27FC236}">
                <a16:creationId xmlns:a16="http://schemas.microsoft.com/office/drawing/2014/main" id="{67A8F216-898E-EC9C-CE39-86450642EA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0" y="0"/>
            <a:ext cx="9141570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164592"/>
            <a:ext cx="1371600" cy="256032"/>
          </a:xfrm>
          <a:prstGeom prst="rect">
            <a:avLst/>
          </a:prstGeom>
          <a:solidFill>
            <a:srgbClr val="1A2E45"/>
          </a:solidFill>
          <a:ln w="635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58952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8899AA"/>
                </a:solidFill>
              </a:rPr>
              <a:t>NON-VEGAS MODEL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1148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</a:rPr>
              <a:t>Model Calibration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Predicted win probability vs observed win rate  |  Bubble size = games in bin  |  Dashed = perfect calibration</a:t>
            </a:r>
            <a:endParaRPr lang="en-US" sz="900" dirty="0"/>
          </a:p>
        </p:txBody>
      </p:sp>
      <p:pic>
        <p:nvPicPr>
          <p:cNvPr id="10" name="Picture 9" descr="The diagram shows a scatter plot comparing observed win rates to predicted win probabilities, with some data points indicating a correlation between the two variables.&#10;&#10;AI-generated content may be incorrect.">
            <a:extLst>
              <a:ext uri="{FF2B5EF4-FFF2-40B4-BE49-F238E27FC236}">
                <a16:creationId xmlns:a16="http://schemas.microsoft.com/office/drawing/2014/main" id="{2BC8AD3A-B1BF-EF10-5F69-6177858508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" y="1045028"/>
            <a:ext cx="9139141" cy="40984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8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457200"/>
            <a:ext cx="2926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8000" b="1" dirty="0">
                <a:solidFill>
                  <a:srgbClr val="0D2035"/>
                </a:solidFill>
              </a:rPr>
              <a:t>04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502920" y="1645920"/>
            <a:ext cx="73152" cy="1828800"/>
          </a:xfrm>
          <a:prstGeom prst="rect">
            <a:avLst/>
          </a:prstGeom>
          <a:solidFill>
            <a:srgbClr val="C8521A"/>
          </a:solidFill>
          <a:ln w="12700">
            <a:solidFill>
              <a:srgbClr val="C85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85800" y="164592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Vegas-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Augmented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Model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85800" y="370332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8C8DC"/>
                </a:solidFill>
              </a:rPr>
              <a:t>Same 5 classifiers — now with spread and total as features.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164592"/>
            <a:ext cx="1371600" cy="256032"/>
          </a:xfrm>
          <a:prstGeom prst="rect">
            <a:avLst/>
          </a:prstGeom>
          <a:solidFill>
            <a:srgbClr val="1A2E45"/>
          </a:solidFill>
          <a:ln w="635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58952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8899AA"/>
                </a:solidFill>
              </a:rPr>
              <a:t>VEGAS MODEL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</a:rPr>
              <a:t>Vegas-Augmented Model Performance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858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Test set: 2025 W1-17  |  Vegas features: spread_line_team, total_line  |  Training: 2018-2024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8321040" cy="365760"/>
          </a:xfrm>
          <a:prstGeom prst="rect">
            <a:avLst/>
          </a:prstGeom>
          <a:solidFill>
            <a:srgbClr val="0B1829"/>
          </a:solidFill>
          <a:ln w="12700">
            <a:solidFill>
              <a:srgbClr val="0B18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0789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</a:rPr>
              <a:t>Model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154680" y="107899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Test Acc (Game)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389120" y="107899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Train Acc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23560" y="107899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Gap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537960" y="107899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AUC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543800" y="107899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Brier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1444752"/>
            <a:ext cx="8321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76072" y="1444752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</a:rPr>
              <a:t>XGBoost (Vegas)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154680" y="144475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63.28%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89120" y="144475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77.67%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23560" y="14447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+14.4%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37960" y="144475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0.691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543800" y="144475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0.225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1901952"/>
            <a:ext cx="8321040" cy="457200"/>
          </a:xfrm>
          <a:prstGeom prst="rect">
            <a:avLst/>
          </a:prstGeom>
          <a:solidFill>
            <a:srgbClr val="F4F6F8"/>
          </a:solidFill>
          <a:ln w="6350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76072" y="1901952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</a:rPr>
              <a:t>Random Forest (Vegas)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154680" y="190195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64.45%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89120" y="190195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76.74%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623560" y="19019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+12.3%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37960" y="190195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0.707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543800" y="190195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0.218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11480" y="2359152"/>
            <a:ext cx="8321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76072" y="2359152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</a:rPr>
              <a:t>Logistic Regression (Vegas)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154680" y="235915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64.84%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389120" y="235915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67.50%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623560" y="23591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+2.7%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537960" y="235915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0.698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543800" y="235915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0.219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11480" y="2816352"/>
            <a:ext cx="8321040" cy="457200"/>
          </a:xfrm>
          <a:prstGeom prst="rect">
            <a:avLst/>
          </a:prstGeom>
          <a:solidFill>
            <a:srgbClr val="FFF2EB"/>
          </a:solidFill>
          <a:ln w="6350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11480" y="2816352"/>
            <a:ext cx="54864" cy="457200"/>
          </a:xfrm>
          <a:prstGeom prst="rect">
            <a:avLst/>
          </a:prstGeom>
          <a:solidFill>
            <a:srgbClr val="C8521A"/>
          </a:solidFill>
          <a:ln w="12700">
            <a:solidFill>
              <a:srgbClr val="C85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76072" y="2816352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</a:rPr>
              <a:t>Ridge Classifier (Vegas)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154680" y="281635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8521A"/>
                </a:solidFill>
              </a:rPr>
              <a:t>65.23%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389120" y="281635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67.53%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623560" y="28163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+2.3%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537960" y="281635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--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543800" y="281635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--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11480" y="3273552"/>
            <a:ext cx="8321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76072" y="3273552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</a:rPr>
              <a:t>Neural Network (MLP) (Vegas)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154680" y="327355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63.67%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389120" y="327355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71.38%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623560" y="32735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+7.7%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537960" y="327355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0.680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543800" y="327355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0.232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11480" y="3730752"/>
            <a:ext cx="8321040" cy="457200"/>
          </a:xfrm>
          <a:prstGeom prst="rect">
            <a:avLst/>
          </a:prstGeom>
          <a:solidFill>
            <a:srgbClr val="E3E8F0"/>
          </a:solidFill>
          <a:ln w="6350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411480" y="3730752"/>
            <a:ext cx="54864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76072" y="3730752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52A0"/>
                </a:solidFill>
              </a:rPr>
              <a:t>Vegas Baseline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154680" y="373075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B52A0"/>
                </a:solidFill>
              </a:rPr>
              <a:t>65.62%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389120" y="373075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B52A0"/>
                </a:solidFill>
              </a:rPr>
              <a:t>--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623560" y="37307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B52A0"/>
                </a:solidFill>
              </a:rPr>
              <a:t>--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537960" y="373075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B52A0"/>
                </a:solidFill>
              </a:rPr>
              <a:t>--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543800" y="373075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B52A0"/>
                </a:solidFill>
              </a:rPr>
              <a:t>--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11480" y="3904488"/>
            <a:ext cx="5029200" cy="457200"/>
          </a:xfrm>
          <a:prstGeom prst="rect">
            <a:avLst/>
          </a:prstGeom>
          <a:solidFill>
            <a:srgbClr val="FFF2EB"/>
          </a:solidFill>
          <a:ln w="6350">
            <a:solidFill>
              <a:srgbClr val="C85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502920" y="390448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8521A"/>
                </a:solidFill>
              </a:rPr>
              <a:t>Best Vegas model: Ridge Classifier — 65.23% accuracy, just below Vegas baseline (65.6%)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5532120" y="3904488"/>
            <a:ext cx="3200400" cy="457200"/>
          </a:xfrm>
          <a:prstGeom prst="rect">
            <a:avLst/>
          </a:prstGeom>
          <a:solidFill>
            <a:srgbClr val="E8EEF8"/>
          </a:solidFill>
          <a:ln w="6350">
            <a:solidFill>
              <a:srgbClr val="3B52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5577840" y="39044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B52A0"/>
                </a:solidFill>
              </a:rPr>
              <a:t>Non-Vegas MLP already matches Vegas — market data adds limited further signal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164592"/>
            <a:ext cx="1371600" cy="256032"/>
          </a:xfrm>
          <a:prstGeom prst="rect">
            <a:avLst/>
          </a:prstGeom>
          <a:solidFill>
            <a:srgbClr val="1A2E45"/>
          </a:solidFill>
          <a:ln w="635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58952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8899AA"/>
                </a:solidFill>
              </a:rPr>
              <a:t>VEGAS MODEL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11480" y="1097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</a:rPr>
              <a:t>What the Vegas Model Learned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XGBoost Vegas model  |  Spread dominates at 0.711 — 6x any other feature  |  Top non-vegas features: completion %, matchup pass efficiency, def yards per target</a:t>
            </a:r>
            <a:endParaRPr lang="en-US" sz="900" dirty="0"/>
          </a:p>
        </p:txBody>
      </p:sp>
      <p:pic>
        <p:nvPicPr>
          <p:cNvPr id="8" name="Picture 7" descr="The diagram is a bar chart depicting SHAP (SHapley Additive exPlanation) values for various features affecting Vegas game outcomes, ordered from most to least important.&#10;&#10;AI-generated content may be incorrect.">
            <a:extLst>
              <a:ext uri="{FF2B5EF4-FFF2-40B4-BE49-F238E27FC236}">
                <a16:creationId xmlns:a16="http://schemas.microsoft.com/office/drawing/2014/main" id="{AA5926BA-1AA6-55FE-3819-E5B98BC210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" y="0"/>
            <a:ext cx="9098280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8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457200"/>
            <a:ext cx="2926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8000" b="1" dirty="0">
                <a:solidFill>
                  <a:srgbClr val="0D2035"/>
                </a:solidFill>
              </a:rPr>
              <a:t>05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502920" y="1645920"/>
            <a:ext cx="73152" cy="1828800"/>
          </a:xfrm>
          <a:prstGeom prst="rect">
            <a:avLst/>
          </a:prstGeom>
          <a:solidFill>
            <a:srgbClr val="C8521A"/>
          </a:solidFill>
          <a:ln w="12700">
            <a:solidFill>
              <a:srgbClr val="C85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85800" y="164592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2025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Season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Projections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4978" y="370332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8C8DC"/>
                </a:solidFill>
              </a:rPr>
              <a:t>Updated before every game of the 2025 season.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164592"/>
            <a:ext cx="1371600" cy="256032"/>
          </a:xfrm>
          <a:prstGeom prst="rect">
            <a:avLst/>
          </a:prstGeom>
          <a:solidFill>
            <a:srgbClr val="1A2E45"/>
          </a:solidFill>
          <a:ln w="635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58952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8899AA"/>
                </a:solidFill>
              </a:rPr>
              <a:t>2025 PROJECTIONS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</a:rPr>
              <a:t>Week-by-Week Accuracy: Neural Net vs Vegas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303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Neural Network (MLP) vs Vegas baseline  |  W1-17 avg accuracy nearly identical  |  MLP W18: model drops, Vegas holds</a:t>
            </a:r>
            <a:endParaRPr lang="en-US" sz="900" dirty="0"/>
          </a:p>
        </p:txBody>
      </p:sp>
      <p:pic>
        <p:nvPicPr>
          <p:cNvPr id="11" name="Picture 10" descr="The diagram compares the accuracy of MLP Neural Network and Vegas Lines over a series of weeks, showing MLP's consistent higher accuracy.&#10;&#10;AI-generated content may be incorrect.">
            <a:extLst>
              <a:ext uri="{FF2B5EF4-FFF2-40B4-BE49-F238E27FC236}">
                <a16:creationId xmlns:a16="http://schemas.microsoft.com/office/drawing/2014/main" id="{05E06CAF-29E4-33F0-3B52-67E26C2668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164592"/>
            <a:ext cx="1371600" cy="256032"/>
          </a:xfrm>
          <a:prstGeom prst="rect">
            <a:avLst/>
          </a:prstGeom>
          <a:solidFill>
            <a:srgbClr val="1A2E45"/>
          </a:solidFill>
          <a:ln w="635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58952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8899AA"/>
                </a:solidFill>
              </a:rPr>
              <a:t>2025 PROJECTIONS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</a:rPr>
              <a:t>Preseason Accuracy: Projected vs Actual 2025 Wins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5303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Non-Vegas model MAE = 2.32 wins  |  Vegas model MAE = 2.00 wins  |  Both models competitive before a game is played</a:t>
            </a:r>
            <a:endParaRPr lang="en-US" sz="900" dirty="0"/>
          </a:p>
        </p:txBody>
      </p:sp>
      <p:pic>
        <p:nvPicPr>
          <p:cNvPr id="8" name="Picture 7" descr="The image is a comparison chart showing the Mean Absolute Error (MAE) of two different models, with the Vegas Best Model having a lower MAE (2.00) compared to the Non-Vegas Best Model (2.32).&#10;&#10;AI-generated content may be incorrect.">
            <a:extLst>
              <a:ext uri="{FF2B5EF4-FFF2-40B4-BE49-F238E27FC236}">
                <a16:creationId xmlns:a16="http://schemas.microsoft.com/office/drawing/2014/main" id="{4C20EC74-515F-4F0E-4B4F-B0FB64EB5C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8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42B81F-7AD1-4931-7719-50206A8EE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CBC8A06-B4FC-F30F-FECD-A0A581D893E0}"/>
              </a:ext>
            </a:extLst>
          </p:cNvPr>
          <p:cNvSpPr/>
          <p:nvPr/>
        </p:nvSpPr>
        <p:spPr>
          <a:xfrm>
            <a:off x="5943600" y="457200"/>
            <a:ext cx="2926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8000" b="1" dirty="0">
                <a:solidFill>
                  <a:srgbClr val="0D2035"/>
                </a:solidFill>
              </a:rPr>
              <a:t>06</a:t>
            </a:r>
            <a:endParaRPr lang="en-US" sz="180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7AA218D-FE42-2657-6E35-CFF98C6AB206}"/>
              </a:ext>
            </a:extLst>
          </p:cNvPr>
          <p:cNvSpPr/>
          <p:nvPr/>
        </p:nvSpPr>
        <p:spPr>
          <a:xfrm>
            <a:off x="502920" y="1645920"/>
            <a:ext cx="73152" cy="1828800"/>
          </a:xfrm>
          <a:prstGeom prst="rect">
            <a:avLst/>
          </a:prstGeom>
          <a:solidFill>
            <a:srgbClr val="C8521A"/>
          </a:solidFill>
          <a:ln w="12700">
            <a:solidFill>
              <a:srgbClr val="C85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31EB53E-1B18-C178-71C8-E38A882CB9F0}"/>
              </a:ext>
            </a:extLst>
          </p:cNvPr>
          <p:cNvSpPr/>
          <p:nvPr/>
        </p:nvSpPr>
        <p:spPr>
          <a:xfrm>
            <a:off x="685800" y="164592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Salary Cap</a:t>
            </a:r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Analysis</a:t>
            </a:r>
            <a:endParaRPr lang="en-US" sz="4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85EBB15-99AA-B489-9041-34B9C5768AE3}"/>
              </a:ext>
            </a:extLst>
          </p:cNvPr>
          <p:cNvSpPr/>
          <p:nvPr/>
        </p:nvSpPr>
        <p:spPr>
          <a:xfrm>
            <a:off x="644978" y="370332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8C8DC"/>
                </a:solidFill>
              </a:rPr>
              <a:t>What are the optimal dollar allocation strategies?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7468669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Picture 3" descr="The image appears to be a bar chart or graph with various categories (Q1, Q2, Q3, Q4) and different values or percentages, possibly representing some kind of distribution or comparison.&#10;&#10;AI-generated content may be incorrect.">
            <a:extLst>
              <a:ext uri="{FF2B5EF4-FFF2-40B4-BE49-F238E27FC236}">
                <a16:creationId xmlns:a16="http://schemas.microsoft.com/office/drawing/2014/main" id="{DD791CD9-263C-C676-9DAA-0FBBF03AD0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38" y="0"/>
            <a:ext cx="9107261" cy="5143500"/>
          </a:xfrm>
          <a:prstGeom prst="rect">
            <a:avLst/>
          </a:prstGeom>
        </p:spPr>
      </p:pic>
      <p:pic>
        <p:nvPicPr>
          <p:cNvPr id="6" name="Picture 5" descr="The image is a bar chart depicting the distribution of various entities (possibly countries or regions) categorized into different groups, with some having percentages or counts, and others marked with acronyms.&#10;&#10;AI-generated content may be incorrect.">
            <a:extLst>
              <a:ext uri="{FF2B5EF4-FFF2-40B4-BE49-F238E27FC236}">
                <a16:creationId xmlns:a16="http://schemas.microsoft.com/office/drawing/2014/main" id="{62D8FE86-7FD0-71D5-CA1A-0E92CF6309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8933" y="2725885"/>
            <a:ext cx="4625068" cy="2446190"/>
          </a:xfrm>
          <a:prstGeom prst="rect">
            <a:avLst/>
          </a:prstGeom>
        </p:spPr>
      </p:pic>
      <p:pic>
        <p:nvPicPr>
          <p:cNvPr id="8" name="Picture 7" descr="The image depicts a bar chart illustrating the distribution of various football positions, with 'Q3 (Lower-mid)' representing a specific range of player positions.&#10;&#10;AI-generated content may be incorrect.">
            <a:extLst>
              <a:ext uri="{FF2B5EF4-FFF2-40B4-BE49-F238E27FC236}">
                <a16:creationId xmlns:a16="http://schemas.microsoft.com/office/drawing/2014/main" id="{95D8650A-1639-61E3-C821-2A4AC2EBD1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738" y="2673934"/>
            <a:ext cx="4482194" cy="2396087"/>
          </a:xfrm>
          <a:prstGeom prst="rect">
            <a:avLst/>
          </a:prstGeom>
        </p:spPr>
      </p:pic>
      <p:pic>
        <p:nvPicPr>
          <p:cNvPr id="14" name="Picture 13" descr="The image is a bar chart showing the percentage distribution of different positions in a football team, with QB, RB, and OG having the highest percentages.&#10;&#10;AI-generated content may be incorrect.">
            <a:extLst>
              <a:ext uri="{FF2B5EF4-FFF2-40B4-BE49-F238E27FC236}">
                <a16:creationId xmlns:a16="http://schemas.microsoft.com/office/drawing/2014/main" id="{BEC2861D-8F54-2052-D357-17C6E5A22B2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18933" y="0"/>
            <a:ext cx="4625066" cy="2725885"/>
          </a:xfrm>
          <a:prstGeom prst="rect">
            <a:avLst/>
          </a:prstGeom>
        </p:spPr>
      </p:pic>
      <p:pic>
        <p:nvPicPr>
          <p:cNvPr id="16" name="Picture 15" descr="The image depicts a bar chart illustrating the percentage distribution of various positions within the top 8 of a sports team, specifically quarterbacks (QB), running backs (RB), and other positions, with a focus on quarterbacks (QB) having the highest percentage.&#10;&#10;AI-generated content may be incorrect.">
            <a:extLst>
              <a:ext uri="{FF2B5EF4-FFF2-40B4-BE49-F238E27FC236}">
                <a16:creationId xmlns:a16="http://schemas.microsoft.com/office/drawing/2014/main" id="{CD1CC649-FBA9-49CF-9ABA-AFA4B781A05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4433303" cy="2725885"/>
          </a:xfrm>
          <a:prstGeom prst="rect">
            <a:avLst/>
          </a:prstGeom>
        </p:spPr>
      </p:pic>
      <p:pic>
        <p:nvPicPr>
          <p:cNvPr id="18" name="Picture 17" descr="The image is a bar chart comparing the percentage of different positions in a football team's quarterback (QB) and quarterback back (QB) lineups across various quarters (Q1-Q4).&#10;&#10;AI-generated content may be incorrect.">
            <a:extLst>
              <a:ext uri="{FF2B5EF4-FFF2-40B4-BE49-F238E27FC236}">
                <a16:creationId xmlns:a16="http://schemas.microsoft.com/office/drawing/2014/main" id="{5A8943CF-DAEE-6739-C4FC-DAB50C286F1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737" y="0"/>
            <a:ext cx="9070525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image appears to be a line chart or a bar chart showing various statistics for different positions (e.g., QB, RB, WR) in a sports context, comparing their performance to the league average, with some positions showing positive or negative changes.&#10;&#10;AI-generated content may be incorrect.">
            <a:extLst>
              <a:ext uri="{FF2B5EF4-FFF2-40B4-BE49-F238E27FC236}">
                <a16:creationId xmlns:a16="http://schemas.microsoft.com/office/drawing/2014/main" id="{981E4D5D-74A5-F62A-162B-00F357BA44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image is a bar chart comparing the performance metrics of different positions in a football team against league averages.&#10;&#10;AI-generated content may be incorrect.">
            <a:extLst>
              <a:ext uri="{FF2B5EF4-FFF2-40B4-BE49-F238E27FC236}">
                <a16:creationId xmlns:a16="http://schemas.microsoft.com/office/drawing/2014/main" id="{0010A58F-2EC1-A9BA-1A39-87008D6B06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image depicts a data visualization showing various financial metrics for different categories, with percentages indicating changes from the previous period, and a comparison to the league average.&#10;&#10;AI-generated content may be incorrect.">
            <a:extLst>
              <a:ext uri="{FF2B5EF4-FFF2-40B4-BE49-F238E27FC236}">
                <a16:creationId xmlns:a16="http://schemas.microsoft.com/office/drawing/2014/main" id="{AF145A06-1B03-6FDC-DD9C-950899077F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image is a bar chart displaying various player positions' performance metrics, comparing them to the league average.&#10;&#10;AI-generated content may be incorrect.">
            <a:extLst>
              <a:ext uri="{FF2B5EF4-FFF2-40B4-BE49-F238E27FC236}">
                <a16:creationId xmlns:a16="http://schemas.microsoft.com/office/drawing/2014/main" id="{5582CBB6-9A38-2CBD-B005-BCB8F54A1A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8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992B48-DB85-C8A6-BD48-C6F6A062E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E13DE17-50A5-3EB5-5EA3-C5F4F47FA563}"/>
              </a:ext>
            </a:extLst>
          </p:cNvPr>
          <p:cNvSpPr/>
          <p:nvPr/>
        </p:nvSpPr>
        <p:spPr>
          <a:xfrm>
            <a:off x="5667602" y="-13716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0" b="1" dirty="0">
                <a:solidFill>
                  <a:srgbClr val="0D2035"/>
                </a:solidFill>
              </a:rPr>
              <a:t>07</a:t>
            </a:r>
            <a:endParaRPr lang="en-US" sz="160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B0E3A0C-FE40-C3C4-B607-E37990405A63}"/>
              </a:ext>
            </a:extLst>
          </p:cNvPr>
          <p:cNvSpPr/>
          <p:nvPr/>
        </p:nvSpPr>
        <p:spPr>
          <a:xfrm>
            <a:off x="502920" y="1417320"/>
            <a:ext cx="73152" cy="1645920"/>
          </a:xfrm>
          <a:prstGeom prst="rect">
            <a:avLst/>
          </a:prstGeom>
          <a:solidFill>
            <a:srgbClr val="C8521A"/>
          </a:solidFill>
          <a:ln w="12700">
            <a:solidFill>
              <a:srgbClr val="C85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1BFE513-B356-3964-ACE3-8EF739A7ADFF}"/>
              </a:ext>
            </a:extLst>
          </p:cNvPr>
          <p:cNvSpPr/>
          <p:nvPr/>
        </p:nvSpPr>
        <p:spPr>
          <a:xfrm>
            <a:off x="685800" y="141732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App</a:t>
            </a:r>
            <a:endParaRPr lang="en-US" sz="4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8C38DE2-54B6-8151-26CF-99E2D54A2471}"/>
              </a:ext>
            </a:extLst>
          </p:cNvPr>
          <p:cNvSpPr/>
          <p:nvPr/>
        </p:nvSpPr>
        <p:spPr>
          <a:xfrm>
            <a:off x="685800" y="297180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8DC"/>
                </a:solidFill>
              </a:rPr>
              <a:t>How can the Bears use these results?</a:t>
            </a:r>
            <a:endParaRPr lang="en-US" sz="14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FD5117A-6FA2-F99B-49CB-3C37DE2F917C}"/>
              </a:ext>
            </a:extLst>
          </p:cNvPr>
          <p:cNvSpPr/>
          <p:nvPr/>
        </p:nvSpPr>
        <p:spPr>
          <a:xfrm>
            <a:off x="5303520" y="2331720"/>
            <a:ext cx="3566160" cy="2148840"/>
          </a:xfrm>
          <a:prstGeom prst="rect">
            <a:avLst/>
          </a:prstGeom>
          <a:solidFill>
            <a:srgbClr val="1A2E45"/>
          </a:solidFill>
          <a:ln w="6350">
            <a:solidFill>
              <a:srgbClr val="2A4060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42E15AA-FC4E-5D69-E501-E6BF3F8649E1}"/>
              </a:ext>
            </a:extLst>
          </p:cNvPr>
          <p:cNvSpPr/>
          <p:nvPr/>
        </p:nvSpPr>
        <p:spPr>
          <a:xfrm>
            <a:off x="5303520" y="2331720"/>
            <a:ext cx="64008" cy="2148840"/>
          </a:xfrm>
          <a:prstGeom prst="rect">
            <a:avLst/>
          </a:prstGeom>
          <a:solidFill>
            <a:srgbClr val="C8521A"/>
          </a:solidFill>
          <a:ln w="12700">
            <a:solidFill>
              <a:srgbClr val="C85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6C3DC66-1F6A-64D1-E513-6374A788C274}"/>
              </a:ext>
            </a:extLst>
          </p:cNvPr>
          <p:cNvSpPr/>
          <p:nvPr/>
        </p:nvSpPr>
        <p:spPr>
          <a:xfrm>
            <a:off x="5440680" y="24231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521A"/>
                </a:solidFill>
              </a:rPr>
              <a:t>The Deliverable</a:t>
            </a:r>
            <a:endParaRPr lang="en-US" sz="11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5C980CE-6143-0034-3DE5-33FF5471F684}"/>
              </a:ext>
            </a:extLst>
          </p:cNvPr>
          <p:cNvSpPr/>
          <p:nvPr/>
        </p:nvSpPr>
        <p:spPr>
          <a:xfrm>
            <a:off x="5440680" y="2788920"/>
            <a:ext cx="34828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B8C8DC"/>
                </a:solidFill>
                <a:hlinkClick r:id="rId3"/>
              </a:rPr>
              <a:t>https://projectionapppy-umylt56cxndy9qpanf6yom.streamlit.app/</a:t>
            </a:r>
            <a:r>
              <a:rPr lang="en-US" sz="1200" dirty="0">
                <a:solidFill>
                  <a:srgbClr val="B8C8DC"/>
                </a:solidFill>
              </a:rPr>
              <a:t> 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369689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8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8899AA"/>
                </a:solidFill>
              </a:rPr>
              <a:t>Takeaways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Key Findings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11480" y="1207008"/>
            <a:ext cx="8321040" cy="1051560"/>
          </a:xfrm>
          <a:prstGeom prst="rect">
            <a:avLst/>
          </a:prstGeom>
          <a:solidFill>
            <a:srgbClr val="1A2E45"/>
          </a:solidFill>
          <a:ln w="635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207008"/>
            <a:ext cx="64008" cy="1051560"/>
          </a:xfrm>
          <a:prstGeom prst="rect">
            <a:avLst/>
          </a:prstGeom>
          <a:solidFill>
            <a:srgbClr val="C8521A"/>
          </a:solidFill>
          <a:ln w="12700">
            <a:solidFill>
              <a:srgbClr val="C85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298448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8521A"/>
                </a:solidFill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12984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ELO drives wins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164592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8DC"/>
                </a:solidFill>
              </a:rPr>
              <a:t>The custom yards-per-play ELO system is the strongest single predictor in both model tracks. Splitting offense and defense gives 2x the signal per game and outperforms every raw efficiency stat.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2395728"/>
            <a:ext cx="8321040" cy="1051560"/>
          </a:xfrm>
          <a:prstGeom prst="rect">
            <a:avLst/>
          </a:prstGeom>
          <a:solidFill>
            <a:srgbClr val="1A2E45"/>
          </a:solidFill>
          <a:ln w="635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11480" y="2395728"/>
            <a:ext cx="64008" cy="1051560"/>
          </a:xfrm>
          <a:prstGeom prst="rect">
            <a:avLst/>
          </a:prstGeom>
          <a:solidFill>
            <a:srgbClr val="C8521A"/>
          </a:solidFill>
          <a:ln w="12700">
            <a:solidFill>
              <a:srgbClr val="C85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2487168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8521A"/>
                </a:solidFill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188720" y="24871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Neural Net matches Vegas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283464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8DC"/>
                </a:solidFill>
              </a:rPr>
              <a:t>The MLP Neural Network reaches 65.6% game-level accuracy using only on-field statistics — exactly matching the Vegas straight-up baseline. This is the key result: publicly available stats alone can match market efficiency.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3584448"/>
            <a:ext cx="8321040" cy="1051560"/>
          </a:xfrm>
          <a:prstGeom prst="rect">
            <a:avLst/>
          </a:prstGeom>
          <a:solidFill>
            <a:srgbClr val="1A2E45"/>
          </a:solidFill>
          <a:ln w="635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11480" y="3584448"/>
            <a:ext cx="64008" cy="1051560"/>
          </a:xfrm>
          <a:prstGeom prst="rect">
            <a:avLst/>
          </a:prstGeom>
          <a:solidFill>
            <a:srgbClr val="C8521A"/>
          </a:solidFill>
          <a:ln w="12700">
            <a:solidFill>
              <a:srgbClr val="C852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3675888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8521A"/>
                </a:solidFill>
              </a:rPr>
              <a:t>03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188720" y="36758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Vegas model adds limited further signal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402336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8DC"/>
                </a:solidFill>
              </a:rPr>
              <a:t>Adding the spread to the model (Ridge Classifier Vegas) reaches 65.23% — actually slightly below both the non-Vegas MLP and the raw Vegas baseline. The MLP already extracts most of the available signal without market data.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4663440"/>
            <a:ext cx="8321040" cy="0"/>
          </a:xfrm>
          <a:prstGeom prst="line">
            <a:avLst/>
          </a:prstGeom>
          <a:noFill/>
          <a:ln w="635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1480" y="47548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</a:rPr>
              <a:t>NEXT: Red zone efficiency  |  Injury indicators  |  EPA integration  |  Expanded ELO variants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1409</Words>
  <Application>Microsoft Office PowerPoint</Application>
  <PresentationFormat>On-screen Show (16:9)</PresentationFormat>
  <Paragraphs>296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NFL Team Records — Chicago Bears Analytics Interview v12</dc:title>
  <dc:subject>PptxGenJS Presentation</dc:subject>
  <dc:creator>PptxGenJS</dc:creator>
  <cp:lastModifiedBy>Asa Arnold</cp:lastModifiedBy>
  <cp:revision>2</cp:revision>
  <dcterms:created xsi:type="dcterms:W3CDTF">2026-05-31T18:29:17Z</dcterms:created>
  <dcterms:modified xsi:type="dcterms:W3CDTF">2026-05-31T22:01:51Z</dcterms:modified>
</cp:coreProperties>
</file>